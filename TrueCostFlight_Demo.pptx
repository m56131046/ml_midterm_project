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6" d="100"/>
          <a:sy n="136" d="100"/>
        </p:scale>
        <p:origin x="81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AI-Powered True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9164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2C39A"/>
                </a:solidFill>
              </a:rPr>
              <a:t>Flight Comparison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88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D8F0"/>
                </a:solidFill>
              </a:rPr>
              <a:t>透過 AI 計算「真實總費用」，讓機票比價不再被隱藏費用蒙蔽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251960"/>
            <a:ext cx="320040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427939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ML Midterm Project  ·  React + FastAPI + TinyLlama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4754880"/>
            <a:ext cx="274320" cy="1828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474573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問題背景 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旅客看到廉航票價 NT$3,500，訂票後才發現：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行李 +NT$950　選位 +NT$150　餐點 +NT$250　手續費 +NT$150　→　實際花費 NT$5,000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269748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2697480" cy="384048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2377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4F"/>
                </a:solidFill>
              </a:rPr>
              <a:t>😤  隱藏費用多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7889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E3A4F"/>
                </a:solidFill>
              </a:rPr>
              <a:t>• LCC 票價只顯示裸價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3A4F"/>
                </a:solidFill>
              </a:rPr>
              <a:t>• 附加費用需逐一查詢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3A4F"/>
                </a:solidFill>
              </a:rPr>
              <a:t>• 容易超出預算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2331720"/>
            <a:ext cx="269748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18688" y="2331720"/>
            <a:ext cx="2697480" cy="384048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28416" y="2377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4F"/>
                </a:solidFill>
              </a:rPr>
              <a:t>⏱️  費時比較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889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E3A4F"/>
                </a:solidFill>
              </a:rPr>
              <a:t>• 跨多個航空官網操作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3A4F"/>
                </a:solidFill>
              </a:rPr>
              <a:t>• 手動計算費用容易出錯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3A4F"/>
                </a:solidFill>
              </a:rPr>
              <a:t>• 缺乏統一比較平台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2331720"/>
            <a:ext cx="269748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71616" y="2331720"/>
            <a:ext cx="2697480" cy="384048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81344" y="2377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4F"/>
                </a:solidFill>
              </a:rPr>
              <a:t>🤷  難以判斷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7889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E3A4F"/>
                </a:solidFill>
              </a:rPr>
              <a:t>• LCC vs FSC 哪個真的便宜？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3A4F"/>
                </a:solidFill>
              </a:rPr>
              <a:t>• Bundle 優惠划算嗎？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3A4F"/>
                </a:solidFill>
              </a:rPr>
              <a:t>• 缺乏客觀建議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4754880"/>
            <a:ext cx="274320" cy="182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0" y="474573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解決方案 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4F"/>
                </a:solidFill>
              </a:rPr>
              <a:t>核心理念：讓「真實總費用」一目了然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8412480" cy="685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1627632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基礎票價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27632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162763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行李費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27632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62763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選位費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627632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62763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餐點費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627632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162763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手續費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1627632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62763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C39A"/>
                </a:solidFill>
              </a:rPr>
              <a:t>真實總費用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23160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2423160"/>
            <a:ext cx="64008" cy="2377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51460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4F"/>
                </a:solidFill>
              </a:rPr>
              <a:t>📊  附加費用資料庫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2926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A728A"/>
                </a:solidFill>
              </a:rPr>
              <a:t>以 JSON 儲存各航空公司行李費、選位費、餐點費及手續費，依 Zone 分層定價，資料與程式碼完全分離。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18688" y="2423160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18688" y="2423160"/>
            <a:ext cx="64008" cy="2377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83280" y="251460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4F"/>
                </a:solidFill>
              </a:rPr>
              <a:t>🧮  真實成本計算器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926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A728A"/>
                </a:solidFill>
              </a:rPr>
              <a:t>使用者輸入行李重量（1–32 kg）、餐點、座位偏好，系統自動套用 baggage_tiers 映射，計算並排序各航班真實總費用。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71616" y="2423160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71616" y="2423160"/>
            <a:ext cx="64008" cy="2377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36208" y="251460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4F"/>
                </a:solidFill>
              </a:rPr>
              <a:t>🤖  AI 推薦模組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292608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A728A"/>
                </a:solidFill>
              </a:rPr>
              <a:t>整合 TinyLlama 語言模型，根據計算結果產生自然語言推薦，並提示 Bundle 優惠是否划算。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4754880"/>
            <a:ext cx="274320" cy="182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0" y="474573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系統架構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3644" y="257175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1C7293"/>
                </a:solidFill>
              </a:rPr>
              <a:t>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9724" y="2566123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1C7293"/>
                </a:solidFill>
              </a:rPr>
              <a:t>↔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48196"/>
            <a:ext cx="2366889" cy="3298124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32072"/>
            <a:ext cx="2366889" cy="403535"/>
          </a:xfrm>
          <a:prstGeom prst="rect">
            <a:avLst/>
          </a:prstGeom>
          <a:solidFill>
            <a:srgbClr val="02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" y="1050118"/>
            <a:ext cx="225048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前端層 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254896"/>
            <a:ext cx="2250485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FFFFFF"/>
                </a:solidFill>
              </a:rPr>
              <a:t>React + </a:t>
            </a:r>
            <a:r>
              <a:rPr sz="950" b="0" i="0" dirty="0" err="1">
                <a:solidFill>
                  <a:srgbClr val="FFFFFF"/>
                </a:solidFill>
              </a:rPr>
              <a:t>Vite</a:t>
            </a:r>
            <a:r>
              <a:rPr sz="950" b="0" i="0" dirty="0">
                <a:solidFill>
                  <a:srgbClr val="FFFFFF"/>
                </a:solidFill>
              </a:rPr>
              <a:t>  ·  Port 5173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38072"/>
            <a:ext cx="2172882" cy="86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 dirty="0">
                <a:solidFill>
                  <a:srgbClr val="1E3A4F"/>
                </a:solidFill>
              </a:rPr>
              <a:t>▸  </a:t>
            </a:r>
            <a:r>
              <a:rPr sz="1050" dirty="0" err="1">
                <a:solidFill>
                  <a:srgbClr val="1E3A4F"/>
                </a:solidFill>
              </a:rPr>
              <a:t>App.jsx</a:t>
            </a:r>
            <a:r>
              <a:rPr sz="1050" dirty="0">
                <a:solidFill>
                  <a:srgbClr val="1E3A4F"/>
                </a:solidFill>
              </a:rPr>
              <a:t> — </a:t>
            </a:r>
            <a:r>
              <a:rPr sz="1050" dirty="0" err="1">
                <a:solidFill>
                  <a:srgbClr val="1E3A4F"/>
                </a:solidFill>
              </a:rPr>
              <a:t>使用者介面</a:t>
            </a:r>
            <a:r>
              <a:rPr sz="1050" dirty="0">
                <a:solidFill>
                  <a:srgbClr val="1E3A4F"/>
                </a:solidFill>
              </a:rPr>
              <a:t> &amp; </a:t>
            </a:r>
            <a:r>
              <a:rPr sz="1050" dirty="0" err="1">
                <a:solidFill>
                  <a:srgbClr val="1E3A4F"/>
                </a:solidFill>
              </a:rPr>
              <a:t>狀態管理</a:t>
            </a:r>
            <a:endParaRPr sz="1050" dirty="0">
              <a:solidFill>
                <a:srgbClr val="1E3A4F"/>
              </a:solidFill>
            </a:endParaRPr>
          </a:p>
          <a:p>
            <a:pPr>
              <a:spcBef>
                <a:spcPts val="500"/>
              </a:spcBef>
            </a:pPr>
            <a:r>
              <a:rPr sz="1050" dirty="0">
                <a:solidFill>
                  <a:srgbClr val="1E3A4F"/>
                </a:solidFill>
              </a:rPr>
              <a:t>▸  </a:t>
            </a:r>
            <a:r>
              <a:rPr sz="1050" dirty="0" err="1">
                <a:solidFill>
                  <a:srgbClr val="1E3A4F"/>
                </a:solidFill>
              </a:rPr>
              <a:t>useEffect</a:t>
            </a:r>
            <a:r>
              <a:rPr sz="1050" dirty="0">
                <a:solidFill>
                  <a:srgbClr val="1E3A4F"/>
                </a:solidFill>
              </a:rPr>
              <a:t> </a:t>
            </a:r>
            <a:r>
              <a:rPr sz="1050" dirty="0" err="1">
                <a:solidFill>
                  <a:srgbClr val="1E3A4F"/>
                </a:solidFill>
              </a:rPr>
              <a:t>載入機場清單</a:t>
            </a:r>
            <a:endParaRPr sz="1050" dirty="0">
              <a:solidFill>
                <a:srgbClr val="1E3A4F"/>
              </a:solidFill>
            </a:endParaRPr>
          </a:p>
          <a:p>
            <a:pPr>
              <a:spcBef>
                <a:spcPts val="500"/>
              </a:spcBef>
            </a:pPr>
            <a:r>
              <a:rPr sz="1050" dirty="0">
                <a:solidFill>
                  <a:srgbClr val="1E3A4F"/>
                </a:solidFill>
              </a:rPr>
              <a:t>▸  fetch POST /</a:t>
            </a:r>
            <a:r>
              <a:rPr sz="1050" dirty="0" err="1">
                <a:solidFill>
                  <a:srgbClr val="1E3A4F"/>
                </a:solidFill>
              </a:rPr>
              <a:t>api</a:t>
            </a:r>
            <a:r>
              <a:rPr sz="1050" dirty="0">
                <a:solidFill>
                  <a:srgbClr val="1E3A4F"/>
                </a:solidFill>
              </a:rPr>
              <a:t>/search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548196"/>
            <a:ext cx="2366889" cy="3298124"/>
          </a:xfrm>
          <a:prstGeom prst="rect">
            <a:avLst/>
          </a:prstGeom>
          <a:solidFill>
            <a:srgbClr val="E0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3246120" y="1032072"/>
            <a:ext cx="2366889" cy="403535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5848" y="1050118"/>
            <a:ext cx="225048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後端層 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254896"/>
            <a:ext cx="2250485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FFFFFF"/>
                </a:solidFill>
              </a:rPr>
              <a:t>FastAPI</a:t>
            </a:r>
            <a:r>
              <a:rPr sz="950" b="0" i="0" dirty="0">
                <a:solidFill>
                  <a:srgbClr val="FFFFFF"/>
                </a:solidFill>
              </a:rPr>
              <a:t> + </a:t>
            </a:r>
            <a:r>
              <a:rPr sz="950" b="0" i="0" dirty="0" err="1">
                <a:solidFill>
                  <a:srgbClr val="FFFFFF"/>
                </a:solidFill>
              </a:rPr>
              <a:t>Uvicorn</a:t>
            </a:r>
            <a:r>
              <a:rPr sz="950" b="0" i="0" dirty="0">
                <a:solidFill>
                  <a:srgbClr val="FFFFFF"/>
                </a:solidFill>
              </a:rPr>
              <a:t>  ·  Port 8000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606012"/>
            <a:ext cx="2172882" cy="93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 dirty="0">
                <a:solidFill>
                  <a:srgbClr val="1E3A4F"/>
                </a:solidFill>
              </a:rPr>
              <a:t>▸  POST /</a:t>
            </a:r>
            <a:r>
              <a:rPr sz="1050" dirty="0" err="1">
                <a:solidFill>
                  <a:srgbClr val="1E3A4F"/>
                </a:solidFill>
              </a:rPr>
              <a:t>api</a:t>
            </a:r>
            <a:r>
              <a:rPr sz="1050" dirty="0">
                <a:solidFill>
                  <a:srgbClr val="1E3A4F"/>
                </a:solidFill>
              </a:rPr>
              <a:t>/search </a:t>
            </a:r>
            <a:r>
              <a:rPr sz="1050" dirty="0" err="1">
                <a:solidFill>
                  <a:srgbClr val="1E3A4F"/>
                </a:solidFill>
              </a:rPr>
              <a:t>計算真實費用</a:t>
            </a:r>
            <a:endParaRPr sz="1050" dirty="0">
              <a:solidFill>
                <a:srgbClr val="1E3A4F"/>
              </a:solidFill>
            </a:endParaRPr>
          </a:p>
          <a:p>
            <a:pPr>
              <a:spcBef>
                <a:spcPts val="500"/>
              </a:spcBef>
            </a:pPr>
            <a:r>
              <a:rPr sz="1050" dirty="0">
                <a:solidFill>
                  <a:srgbClr val="1E3A4F"/>
                </a:solidFill>
              </a:rPr>
              <a:t>▸  GET /</a:t>
            </a:r>
            <a:r>
              <a:rPr sz="1050" dirty="0" err="1">
                <a:solidFill>
                  <a:srgbClr val="1E3A4F"/>
                </a:solidFill>
              </a:rPr>
              <a:t>api</a:t>
            </a:r>
            <a:r>
              <a:rPr sz="1050" dirty="0">
                <a:solidFill>
                  <a:srgbClr val="1E3A4F"/>
                </a:solidFill>
              </a:rPr>
              <a:t>/airports </a:t>
            </a:r>
            <a:r>
              <a:rPr sz="1050" dirty="0" err="1">
                <a:solidFill>
                  <a:srgbClr val="1E3A4F"/>
                </a:solidFill>
              </a:rPr>
              <a:t>動態機場清單</a:t>
            </a:r>
            <a:endParaRPr sz="1050" dirty="0">
              <a:solidFill>
                <a:srgbClr val="1E3A4F"/>
              </a:solidFill>
            </a:endParaRPr>
          </a:p>
          <a:p>
            <a:pPr>
              <a:spcBef>
                <a:spcPts val="500"/>
              </a:spcBef>
            </a:pPr>
            <a:r>
              <a:rPr sz="1050" dirty="0">
                <a:solidFill>
                  <a:srgbClr val="1E3A4F"/>
                </a:solidFill>
              </a:rPr>
              <a:t>▸  </a:t>
            </a:r>
            <a:r>
              <a:rPr sz="1050" dirty="0" err="1">
                <a:solidFill>
                  <a:srgbClr val="1E3A4F"/>
                </a:solidFill>
              </a:rPr>
              <a:t>resolve_baggage_key</a:t>
            </a:r>
            <a:r>
              <a:rPr sz="1050" dirty="0">
                <a:solidFill>
                  <a:srgbClr val="1E3A4F"/>
                </a:solidFill>
              </a:rPr>
              <a:t>() </a:t>
            </a:r>
            <a:r>
              <a:rPr sz="1050" dirty="0" err="1">
                <a:solidFill>
                  <a:srgbClr val="1E3A4F"/>
                </a:solidFill>
              </a:rPr>
              <a:t>費率映射</a:t>
            </a:r>
            <a:endParaRPr sz="1050" dirty="0">
              <a:solidFill>
                <a:srgbClr val="1E3A4F"/>
              </a:solidFill>
            </a:endParaRPr>
          </a:p>
          <a:p>
            <a:pPr>
              <a:spcBef>
                <a:spcPts val="500"/>
              </a:spcBef>
            </a:pPr>
            <a:r>
              <a:rPr sz="1050" dirty="0">
                <a:solidFill>
                  <a:srgbClr val="1E3A4F"/>
                </a:solidFill>
              </a:rPr>
              <a:t>▸  </a:t>
            </a:r>
            <a:r>
              <a:rPr sz="1050" dirty="0" err="1">
                <a:solidFill>
                  <a:srgbClr val="1E3A4F"/>
                </a:solidFill>
              </a:rPr>
              <a:t>TinyLlama</a:t>
            </a:r>
            <a:r>
              <a:rPr sz="1050" dirty="0">
                <a:solidFill>
                  <a:srgbClr val="1E3A4F"/>
                </a:solidFill>
              </a:rPr>
              <a:t> AI </a:t>
            </a:r>
            <a:r>
              <a:rPr sz="1050" dirty="0" err="1">
                <a:solidFill>
                  <a:srgbClr val="1E3A4F"/>
                </a:solidFill>
              </a:rPr>
              <a:t>推薦生成</a:t>
            </a:r>
            <a:endParaRPr sz="1050" dirty="0">
              <a:solidFill>
                <a:srgbClr val="1E3A4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72200" y="1548196"/>
            <a:ext cx="2366889" cy="329812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032072"/>
            <a:ext cx="2366889" cy="403535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1050118"/>
            <a:ext cx="225048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資料層 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1254896"/>
            <a:ext cx="2250485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FFFFFF"/>
                </a:solidFill>
              </a:rPr>
              <a:t>JSON </a:t>
            </a:r>
            <a:r>
              <a:rPr sz="950" b="0" i="0" dirty="0" err="1">
                <a:solidFill>
                  <a:srgbClr val="FFFFFF"/>
                </a:solidFill>
              </a:rPr>
              <a:t>檔案（無資料庫</a:t>
            </a:r>
            <a:r>
              <a:rPr sz="950" b="0" i="0" dirty="0">
                <a:solidFill>
                  <a:srgbClr val="FFFFFF"/>
                </a:solidFill>
              </a:rPr>
              <a:t>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615662"/>
            <a:ext cx="2172882" cy="705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 dirty="0">
                <a:solidFill>
                  <a:srgbClr val="1E3A4F"/>
                </a:solidFill>
              </a:rPr>
              <a:t>▸  </a:t>
            </a:r>
            <a:r>
              <a:rPr sz="1050" dirty="0" err="1">
                <a:solidFill>
                  <a:srgbClr val="1E3A4F"/>
                </a:solidFill>
              </a:rPr>
              <a:t>airlines.json</a:t>
            </a:r>
            <a:r>
              <a:rPr sz="1050" dirty="0">
                <a:solidFill>
                  <a:srgbClr val="1E3A4F"/>
                </a:solidFill>
              </a:rPr>
              <a:t> — </a:t>
            </a:r>
            <a:r>
              <a:rPr sz="1050" dirty="0" err="1">
                <a:solidFill>
                  <a:srgbClr val="1E3A4F"/>
                </a:solidFill>
              </a:rPr>
              <a:t>航空公司資料</a:t>
            </a:r>
            <a:endParaRPr sz="1050" dirty="0">
              <a:solidFill>
                <a:srgbClr val="1E3A4F"/>
              </a:solidFill>
            </a:endParaRPr>
          </a:p>
          <a:p>
            <a:pPr>
              <a:spcBef>
                <a:spcPts val="500"/>
              </a:spcBef>
            </a:pPr>
            <a:r>
              <a:rPr sz="1050" dirty="0">
                <a:solidFill>
                  <a:srgbClr val="1E3A4F"/>
                </a:solidFill>
              </a:rPr>
              <a:t>▸  </a:t>
            </a:r>
            <a:r>
              <a:rPr sz="1050" dirty="0" err="1">
                <a:solidFill>
                  <a:srgbClr val="1E3A4F"/>
                </a:solidFill>
              </a:rPr>
              <a:t>fees.json</a:t>
            </a:r>
            <a:r>
              <a:rPr sz="1050" dirty="0">
                <a:solidFill>
                  <a:srgbClr val="1E3A4F"/>
                </a:solidFill>
              </a:rPr>
              <a:t> — </a:t>
            </a:r>
            <a:r>
              <a:rPr sz="1050" dirty="0" err="1">
                <a:solidFill>
                  <a:srgbClr val="1E3A4F"/>
                </a:solidFill>
              </a:rPr>
              <a:t>附加費用費率表</a:t>
            </a:r>
            <a:endParaRPr sz="1050" dirty="0">
              <a:solidFill>
                <a:srgbClr val="1E3A4F"/>
              </a:solidFill>
            </a:endParaRPr>
          </a:p>
          <a:p>
            <a:pPr>
              <a:spcBef>
                <a:spcPts val="500"/>
              </a:spcBef>
            </a:pPr>
            <a:r>
              <a:rPr sz="1050" dirty="0">
                <a:solidFill>
                  <a:srgbClr val="1E3A4F"/>
                </a:solidFill>
              </a:rPr>
              <a:t>▸  </a:t>
            </a:r>
            <a:r>
              <a:rPr sz="1050" dirty="0" err="1">
                <a:solidFill>
                  <a:srgbClr val="1E3A4F"/>
                </a:solidFill>
              </a:rPr>
              <a:t>airport_zones.json</a:t>
            </a:r>
            <a:r>
              <a:rPr sz="1050" dirty="0">
                <a:solidFill>
                  <a:srgbClr val="1E3A4F"/>
                </a:solidFill>
              </a:rPr>
              <a:t> — </a:t>
            </a:r>
            <a:r>
              <a:rPr sz="1050" dirty="0" err="1">
                <a:solidFill>
                  <a:srgbClr val="1E3A4F"/>
                </a:solidFill>
              </a:rPr>
              <a:t>航區對應</a:t>
            </a:r>
            <a:endParaRPr sz="1050" dirty="0">
              <a:solidFill>
                <a:srgbClr val="1E3A4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686800" y="4754880"/>
            <a:ext cx="274320" cy="182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0" y="474573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技術選型  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27889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278892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338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4F"/>
                </a:solidFill>
              </a:rPr>
              <a:t>⚛  React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728A"/>
                </a:solidFill>
              </a:rPr>
              <a:t>前端 UI 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E3A4F"/>
                </a:solidFill>
              </a:rPr>
              <a:t>• 元件化架構，方便擴充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3A4F"/>
                </a:solidFill>
              </a:rPr>
              <a:t>• useState / useEffect Hooks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3A4F"/>
                </a:solidFill>
              </a:rPr>
              <a:t>• 介面自動重新渲染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987552"/>
            <a:ext cx="27889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46120" y="987552"/>
            <a:ext cx="278892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1338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4F"/>
                </a:solidFill>
              </a:rPr>
              <a:t>⚡  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728A"/>
                </a:solidFill>
              </a:rPr>
              <a:t>前端建構工具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71907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E3A4F"/>
                </a:solidFill>
              </a:rPr>
              <a:t>• 毫秒級 HMR 熱更新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3A4F"/>
                </a:solidFill>
              </a:rPr>
              <a:t>• 一行指令建立專案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3A4F"/>
                </a:solidFill>
              </a:rPr>
              <a:t>• 比 CRA 快數倍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987552"/>
            <a:ext cx="27889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987552"/>
            <a:ext cx="278892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1338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4F"/>
                </a:solidFill>
              </a:rPr>
              <a:t>🚀  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4630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728A"/>
                </a:solidFill>
              </a:rPr>
              <a:t>後端 API 框架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71907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E3A4F"/>
                </a:solidFill>
              </a:rPr>
              <a:t>• Pydantic 自動型別驗證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3A4F"/>
                </a:solidFill>
              </a:rPr>
              <a:t>• 自動生成 Swagger 文件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3A4F"/>
                </a:solidFill>
              </a:rPr>
              <a:t>• Python 生態系直接整合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80944"/>
            <a:ext cx="27889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980944"/>
            <a:ext cx="278892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1272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4F"/>
                </a:solidFill>
              </a:rPr>
              <a:t>🦄  Uvicorn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564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728A"/>
                </a:solidFill>
              </a:rPr>
              <a:t>ASGI 伺服器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12464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E3A4F"/>
                </a:solidFill>
              </a:rPr>
              <a:t>• FastAPI 官方推薦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3A4F"/>
                </a:solidFill>
              </a:rPr>
              <a:t>• 非同步處理能力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3A4F"/>
                </a:solidFill>
              </a:rPr>
              <a:t>• 高效能 HTTP 伺服器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2980944"/>
            <a:ext cx="27889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46120" y="2980944"/>
            <a:ext cx="278892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83280" y="31272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4F"/>
                </a:solidFill>
              </a:rPr>
              <a:t>🤖  TinyLlama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4564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728A"/>
                </a:solidFill>
              </a:rPr>
              <a:t>AI 語言模型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712464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E3A4F"/>
                </a:solidFill>
              </a:rPr>
              <a:t>• 1.1B 參數，CPU 可執行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3A4F"/>
                </a:solidFill>
              </a:rPr>
              <a:t>• Chat 格式 Prompt 設計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3A4F"/>
                </a:solidFill>
              </a:rPr>
              <a:t>• HuggingFace 免費使用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2980944"/>
            <a:ext cx="27889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72200" y="2980944"/>
            <a:ext cx="278892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31272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4F"/>
                </a:solidFill>
              </a:rPr>
              <a:t>📦  JSON 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45643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728A"/>
                </a:solidFill>
              </a:rPr>
              <a:t>資料儲存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712464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1E3A4F"/>
                </a:solidFill>
              </a:rPr>
              <a:t>• 無需資料庫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3A4F"/>
                </a:solidFill>
              </a:rPr>
              <a:t>• 資料與程式碼分離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3A4F"/>
                </a:solidFill>
              </a:rPr>
              <a:t>• 新增航空公司不改程式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4754880"/>
            <a:ext cx="274320" cy="182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0" y="474573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讓機票比價回歸透明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002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2C39A"/>
                </a:solidFill>
              </a:rPr>
              <a:t>Make Flight Comparison Truly Transparent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23160"/>
            <a:ext cx="2468880" cy="1463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48716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2C39A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546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台灣籍航空
資料收錄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423160"/>
            <a:ext cx="2468880" cy="1463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248716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2C39A"/>
                </a:solidFill>
              </a:rPr>
              <a:t>3-Layer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1546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前後端分離
系統架構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423160"/>
            <a:ext cx="2468880" cy="1463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248716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2C39A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1546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資料驅動
無硬編規則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B8D0"/>
                </a:solidFill>
              </a:rPr>
              <a:t>React + FastAPI + TinyLlama  ·  Zone-Based Pricing  ·  Data-Driven 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4754880"/>
            <a:ext cx="274320" cy="1828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0" y="474573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374</Words>
  <Application>Microsoft Office PowerPoint</Application>
  <PresentationFormat>如螢幕大小 (16:9)</PresentationFormat>
  <Paragraphs>103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王薏瑄 YI-HSUAN,WANG</cp:lastModifiedBy>
  <cp:revision>3</cp:revision>
  <dcterms:created xsi:type="dcterms:W3CDTF">2013-01-27T09:14:16Z</dcterms:created>
  <dcterms:modified xsi:type="dcterms:W3CDTF">2026-05-29T04:16:11Z</dcterms:modified>
  <cp:category/>
</cp:coreProperties>
</file>